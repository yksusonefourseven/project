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1ee06c054a42b2" /><Relationship Type="http://schemas.openxmlformats.org/officeDocument/2006/relationships/extended-properties" Target="/docProps/app.xml" Id="R0cf31cde451f481c" /><Relationship Type="http://schemas.openxmlformats.org/officeDocument/2006/relationships/officeDocument" Target="/ppt/presentation.xml" Id="Rdb9a7b5d4c184e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d322835914420e"/>
  </p:sldMasterIdLst>
  <p:notesMasterIdLst>
    <p:notesMasterId xmlns:r="http://schemas.openxmlformats.org/officeDocument/2006/relationships" r:id="R669e53524cda462b"/>
  </p:notesMasterIdLst>
  <p:sldIdLst>
    <p:sldId xmlns:r="http://schemas.openxmlformats.org/officeDocument/2006/relationships" id="256" r:id="Rc7578ff5bb564bf5"/>
    <p:sldId xmlns:r="http://schemas.openxmlformats.org/officeDocument/2006/relationships" id="257" r:id="R5f1c3f1fb52d4e21"/>
    <p:sldId xmlns:r="http://schemas.openxmlformats.org/officeDocument/2006/relationships" id="258" r:id="R90440412a0ba4f83"/>
    <p:sldId xmlns:r="http://schemas.openxmlformats.org/officeDocument/2006/relationships" id="259" r:id="Rbf1fcadd66eb40dc"/>
    <p:sldId xmlns:r="http://schemas.openxmlformats.org/officeDocument/2006/relationships" id="260" r:id="R8c2b9cc615fb40ad"/>
    <p:sldId xmlns:r="http://schemas.openxmlformats.org/officeDocument/2006/relationships" id="261" r:id="R965c601314714cf3"/>
    <p:sldId xmlns:r="http://schemas.openxmlformats.org/officeDocument/2006/relationships" id="262" r:id="R86b331a4d8154c54"/>
    <p:sldId xmlns:r="http://schemas.openxmlformats.org/officeDocument/2006/relationships" id="263" r:id="Reb15ace43567443c"/>
    <p:sldId xmlns:r="http://schemas.openxmlformats.org/officeDocument/2006/relationships" id="264" r:id="Rd912f5a797054502"/>
    <p:sldId xmlns:r="http://schemas.openxmlformats.org/officeDocument/2006/relationships" id="265" r:id="R00a4b023bc7e40df"/>
    <p:sldId xmlns:r="http://schemas.openxmlformats.org/officeDocument/2006/relationships" id="266" r:id="Rbd0dd8d926cb436f"/>
    <p:sldId xmlns:r="http://schemas.openxmlformats.org/officeDocument/2006/relationships" id="267" r:id="R48351207de1445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8dea5bea56442a" /><Relationship Type="http://schemas.openxmlformats.org/officeDocument/2006/relationships/slideMaster" Target="/ppt/slideMasters/slideMaster1.xml" Id="R98d322835914420e" /><Relationship Type="http://schemas.openxmlformats.org/officeDocument/2006/relationships/notesMaster" Target="/ppt/notesMasters/notesMaster1.xml" Id="R669e53524cda462b" /><Relationship Type="http://schemas.openxmlformats.org/officeDocument/2006/relationships/presProps" Target="/ppt/presProps.xml" Id="R489c67fa1d4640b3" /><Relationship Type="http://schemas.openxmlformats.org/officeDocument/2006/relationships/tableStyles" Target="/ppt/tableStyles.xml" Id="R4697ced2f9e34d9c" /><Relationship Type="http://schemas.openxmlformats.org/officeDocument/2006/relationships/slide" Target="/ppt/slides/slide1.xml" Id="Rc7578ff5bb564bf5" /><Relationship Type="http://schemas.openxmlformats.org/officeDocument/2006/relationships/slide" Target="/ppt/slides/slide2.xml" Id="R5f1c3f1fb52d4e21" /><Relationship Type="http://schemas.openxmlformats.org/officeDocument/2006/relationships/slide" Target="/ppt/slides/slide3.xml" Id="R90440412a0ba4f83" /><Relationship Type="http://schemas.openxmlformats.org/officeDocument/2006/relationships/slide" Target="/ppt/slides/slide4.xml" Id="Rbf1fcadd66eb40dc" /><Relationship Type="http://schemas.openxmlformats.org/officeDocument/2006/relationships/slide" Target="/ppt/slides/slide5.xml" Id="R8c2b9cc615fb40ad" /><Relationship Type="http://schemas.openxmlformats.org/officeDocument/2006/relationships/slide" Target="/ppt/slides/slide6.xml" Id="R965c601314714cf3" /><Relationship Type="http://schemas.openxmlformats.org/officeDocument/2006/relationships/slide" Target="/ppt/slides/slide7.xml" Id="R86b331a4d8154c54" /><Relationship Type="http://schemas.openxmlformats.org/officeDocument/2006/relationships/slide" Target="/ppt/slides/slide8.xml" Id="Reb15ace43567443c" /><Relationship Type="http://schemas.openxmlformats.org/officeDocument/2006/relationships/slide" Target="/ppt/slides/slide9.xml" Id="Rd912f5a797054502" /><Relationship Type="http://schemas.openxmlformats.org/officeDocument/2006/relationships/slide" Target="/ppt/slides/slide10.xml" Id="R00a4b023bc7e40df" /><Relationship Type="http://schemas.openxmlformats.org/officeDocument/2006/relationships/slide" Target="/ppt/slides/slide11.xml" Id="Rbd0dd8d926cb436f" /><Relationship Type="http://schemas.openxmlformats.org/officeDocument/2006/relationships/slide" Target="/ppt/slides/slide12.xml" Id="R48351207de1445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babef3cfaa42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bfce1d86254626" /><Relationship Type="http://schemas.openxmlformats.org/officeDocument/2006/relationships/notesMaster" Target="/ppt/notesMasters/notesMaster1.xml" Id="R4d5011185ade49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b7ff9552b64c7b" /><Relationship Type="http://schemas.openxmlformats.org/officeDocument/2006/relationships/notesMaster" Target="/ppt/notesMasters/notesMaster1.xml" Id="R59e206767f6241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f0cd70bfb84de0" /><Relationship Type="http://schemas.openxmlformats.org/officeDocument/2006/relationships/notesMaster" Target="/ppt/notesMasters/notesMaster1.xml" Id="Rdf0150113cb144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ce35080d984a2e" /><Relationship Type="http://schemas.openxmlformats.org/officeDocument/2006/relationships/notesMaster" Target="/ppt/notesMasters/notesMaster1.xml" Id="R90c70120ce974e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d354dd140b4da2" /><Relationship Type="http://schemas.openxmlformats.org/officeDocument/2006/relationships/notesMaster" Target="/ppt/notesMasters/notesMaster1.xml" Id="R28ce55729e7a48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db63ed986f41d6" /><Relationship Type="http://schemas.openxmlformats.org/officeDocument/2006/relationships/notesMaster" Target="/ppt/notesMasters/notesMaster1.xml" Id="R5ca447b1251a43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022a2c25824d52" /><Relationship Type="http://schemas.openxmlformats.org/officeDocument/2006/relationships/notesMaster" Target="/ppt/notesMasters/notesMaster1.xml" Id="R10ab3a90618640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ad59a7b6854c43" /><Relationship Type="http://schemas.openxmlformats.org/officeDocument/2006/relationships/notesMaster" Target="/ppt/notesMasters/notesMaster1.xml" Id="R5818329ace3540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cf009997f440cc" /><Relationship Type="http://schemas.openxmlformats.org/officeDocument/2006/relationships/notesMaster" Target="/ppt/notesMasters/notesMaster1.xml" Id="R6e62ec617abe48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73de23ad6e4d3e" /><Relationship Type="http://schemas.openxmlformats.org/officeDocument/2006/relationships/notesMaster" Target="/ppt/notesMasters/notesMaster1.xml" Id="Rd73e9fab6a2340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cdf238e8744764" /><Relationship Type="http://schemas.openxmlformats.org/officeDocument/2006/relationships/notesMaster" Target="/ppt/notesMasters/notesMaster1.xml" Id="R6903bdb476c649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bb4b1e5f2640eb" /><Relationship Type="http://schemas.openxmlformats.org/officeDocument/2006/relationships/notesMaster" Target="/ppt/notesMasters/notesMaster1.xml" Id="Ra4d80d6229324f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Представьте тему и участников. Основание: Лабораторная работа 1, предоставленная в DOCX. ФИО и учебную группу впишите перед защитой. Приложение работает на локальном Docker-стенде.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 заданию данные хранятся в бумажных журналах и таблицах. Не утверждайте экономию времени в процентах: измерение не проводилось. Объясните последствия ручного переноса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Пять модулей: справочники, учебный процесс, успеваемость, отчеты, администрирование. Администратор имеет полный доступ. Деканат не вводит оценки. Преподаватель ограничен своими назначениями. Студент получает только свои данные.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HTTP-запрос проходит FastAPI, проверку сессии и роли, сервис и PostgreSQL. Dishka управляет пулом APP и соединением REQUEST. Источник: https://dishka.readthedocs.io/en/stable/integrations/fastapi.html. Два контейнера; очередь не нужна для выбранного объема.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упрощенная схема ключевых связей; полная ER-диаграмма и словарь всех полей — в отчете и docs/diagrams/er-diagram.png. Группа и дисциплина имеют M:M через назначения; студент и работа — M:M через оценки. Веса находятся в работах. Модель приведена к 3НФ.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из TC22: студент 1, назначение 1. Все работы обязательны. Формула round(sum(value*weight)/sum(weight)). PostgreSQL numeric округляет положительную половину вверх. Средний балл рассчитывается по завершенным балльным итогам, не по всем исходным работам.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Покажите меню, поиск и сортировку. Откройте форму студента и отмените без изменения. Снимок получен из реально работающего приложения. Создание идет в порядке: преподаватель, группа, студент, дисциплина, назначение, работа, оценка.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Шесть видов: ведомость группы и дисциплины; сводная ведомость студента; рейтинг; должники; статистика групп, курсов, специальностей; качество знаний. Экспорт использует ту же серверную выборку. Качество группы 1 — 3 из 4, то есть 75%.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Пароли: PBKDF2-HMAC-SHA256, индивидуальная соль, 260000 итераций. Cookie HttpOnly и SameSite=Strict. В БД хеш токена. При HTTPS включить Secure. Сервер проверяет роли и предметные границы. Источник по общим механизмам FastAPI: https://fastapi.tiangolo.com/tutorial/security/.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Фактический повторный прогон 13.09.2026: docs/reports/test-results.xml. 46 именованных сценариев расширены параметризацией до 64 проверок. Первый прогон: 59 passed, 5 failed из-за одного дефекта экранирования %. После исправления 64 passed. Копия восстановлена в отдельную БД: 240 оценок. Нагрузочные и все межбраузерные проверки не проводились.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Откройте http://localhost:8000. Войти admin / DemoPass123!. Показать справочники, затем ведомость назначения 1 и PDF. Выйти. Войти student / DemoPass123! и показать ограниченное меню и личное место. Не показывайте реальные персональные данные. На демонстрацию выделено около 5 минут.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Заключение: учебная система реализована, документы и изображения диаграмм подготовлены. Участники самостоятельно заполняют титульные реквизиты, размещают файлы на портале и проводят защиту. GitHub push в текущей среде недоступен; не утверждайте публикацию до реальной отправки. Перед реальной эксплуатацией нужны HTTPS, индивидуальные учетные записи и дополнительные испытания.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7aa4cec1664d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98426aded24bd9" /><Relationship Type="http://schemas.openxmlformats.org/officeDocument/2006/relationships/slideLayout" Target="/ppt/slideLayouts/slideLayout1.xml" Id="R161afc88cd2547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1afc88cd2547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a7ebb684549ca" /><Relationship Type="http://schemas.openxmlformats.org/officeDocument/2006/relationships/notesSlide" Target="/ppt/notesSlides/notesSlide1.xml" Id="R2443e6d0eb3048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125efe94f4e5a" /><Relationship Type="http://schemas.openxmlformats.org/officeDocument/2006/relationships/notesSlide" Target="/ppt/notesSlides/notesSlide2.xml" Id="Rfe26a311827640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68c57b4f042b9" /><Relationship Type="http://schemas.openxmlformats.org/officeDocument/2006/relationships/notesSlide" Target="/ppt/notesSlides/notesSlide3.xml" Id="R84c88a37077148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218639c864bf1" /><Relationship Type="http://schemas.openxmlformats.org/officeDocument/2006/relationships/notesSlide" Target="/ppt/notesSlides/notesSlide4.xml" Id="R83245627562d40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a5962adb0408b" /><Relationship Type="http://schemas.openxmlformats.org/officeDocument/2006/relationships/notesSlide" Target="/ppt/notesSlides/notesSlide5.xml" Id="R28fc6a11450948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027a554d24b36" /><Relationship Type="http://schemas.openxmlformats.org/officeDocument/2006/relationships/notesSlide" Target="/ppt/notesSlides/notesSlide6.xml" Id="R87a7cec6007e4a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e691665294dff" /><Relationship Type="http://schemas.openxmlformats.org/officeDocument/2006/relationships/image" Target="/ppt/media/image.jpeg" Id="R768dc9cd60c74d7a" /><Relationship Type="http://schemas.openxmlformats.org/officeDocument/2006/relationships/notesSlide" Target="/ppt/notesSlides/notesSlide7.xml" Id="Ra7db5f4317a54e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0e16623644181" /><Relationship Type="http://schemas.openxmlformats.org/officeDocument/2006/relationships/image" Target="/ppt/media/image2.jpeg" Id="Rafb5a5de4e704d4f" /><Relationship Type="http://schemas.openxmlformats.org/officeDocument/2006/relationships/notesSlide" Target="/ppt/notesSlides/notesSlide8.xml" Id="R3c606a2d61934d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2404349d24625" /><Relationship Type="http://schemas.openxmlformats.org/officeDocument/2006/relationships/notesSlide" Target="/ppt/notesSlides/notesSlide9.xml" Id="Rb0c7790aab3b4a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4fc65d2c54f26" /><Relationship Type="http://schemas.openxmlformats.org/officeDocument/2006/relationships/notesSlide" Target="/ppt/notesSlides/notesSlide10.xml" Id="Re11b81aa98c14d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3544a64b7481f" /><Relationship Type="http://schemas.openxmlformats.org/officeDocument/2006/relationships/notesSlide" Target="/ppt/notesSlides/notesSlide11.xml" Id="R3221f0bc608c46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d787924324dea" /><Relationship Type="http://schemas.openxmlformats.org/officeDocument/2006/relationships/notesSlide" Target="/ppt/notesSlides/notesSlide12.xml" Id="R6d2c6f18771340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25FE5-5200-4077-BB59-C0631880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E"/>
                </a:solidFill>
                <a:latin typeface="Arial"/>
                <a:ea typeface="Arial"/>
                <a:cs typeface="Arial"/>
              </a:rPr>
              <a:t>Учет успеваемости студентов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63F15-5E75-4F10-8A00-0DF54DDF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246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ЛАБОРАТОРНАЯ РАБОТА 1  /  УЧЕТ УСПЕВАЕМОСТИ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88D9D-2C2C-46F5-A2E2-88E6C087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8DB19-EB74-4FF7-AFF7-17C38391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28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7334E"/>
                </a:solidFill>
                <a:latin typeface="Arial"/>
                <a:ea typeface="Arial"/>
                <a:cs typeface="Arial"/>
              </a:rPr>
              <a:t>Информационная система</a:t>
            </a:r>
          </a:p>
          <a:p xmlns:a="http://schemas.openxmlformats.org/drawingml/2006/main">
            <a:pPr>
              <a:defRPr sz="3675" b="1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7334E"/>
                </a:solidFill>
                <a:latin typeface="Arial"/>
                <a:ea typeface="Arial"/>
                <a:cs typeface="Arial"/>
              </a:rPr>
              <a:t>для деканата, преподавателей</a:t>
            </a:r>
          </a:p>
          <a:p xmlns:a="http://schemas.openxmlformats.org/drawingml/2006/main">
            <a:pPr>
              <a:defRPr sz="3675" b="1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7334E"/>
                </a:solidFill>
                <a:latin typeface="Arial"/>
                <a:ea typeface="Arial"/>
                <a:cs typeface="Arial"/>
              </a:rPr>
              <a:t>и студентов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7A74E-1193-4CDA-9C1D-CFFC2FC1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Веб-приложение · PostgreSQL · Docker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F6298-ED83-48C5-A085-09C6B33E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Участники и группа: 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186445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0533F-F985-4F75-810C-4DA9C223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E"/>
                </a:solidFill>
                <a:latin typeface="Arial"/>
                <a:ea typeface="Arial"/>
                <a:cs typeface="Arial"/>
              </a:rPr>
              <a:t>Проблема предметной области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97DD5-1D12-447D-8CBC-8BA42128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246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ЛАБОРАТОРНАЯ РАБОТА 1  /  УЧЕТ УСПЕВАЕМОСТИ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150AF-BB02-4441-B02C-1208668F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BC3BE-9590-4D87-887A-09BB4093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Данные разделены между журналами и таблицами.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63350-3606-4B43-8391-14756AEC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050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Повторный ввод приводит к дубликатам и ошибкам.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C8318-6C0E-4F6B-9A38-5D63C8B7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432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Средний балл и ведомости приходится собирать вручную.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0E225-F302-4B6D-9DC0-C695A054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Единая база связывает студента, работу и оценку.</a:t>
            </a:r>
          </a:p>
        </p:txBody>
      </p:sp>
    </p:spTree>
    <p:extLst>
      <p:ext uri="{BB962C8B-B14F-4D97-AF65-F5344CB8AC3E}">
        <p14:creationId xmlns:p14="http://schemas.microsoft.com/office/powerpoint/2010/main" val="1235374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63876-53DB-4AE3-8B17-2A84CA6E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E"/>
                </a:solidFill>
                <a:latin typeface="Arial"/>
                <a:ea typeface="Arial"/>
                <a:cs typeface="Arial"/>
              </a:rPr>
              <a:t>Функции и роли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178D7-EA86-445A-91D3-8D8F5BA0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246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ЛАБОРАТОРНАЯ РАБОТА 1  /  УЧЕТ УСПЕВАЕМОСТИ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5C556-76C9-4A64-9684-7D18103E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2C94C-69EC-4CF9-AF5E-F2C3199B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Администратор — все данные, пользователи, журнал и архив.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38488-09B3-4BD1-90B8-A1360F63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Деканат — справочники, назначения и шесть отчетов.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40F50-732D-49A7-8277-F6DFA4F3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Преподаватель — работы, оценки и ведомости своих дисциплин.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243D0-D534-4D9C-8B76-4D92C498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Студент — свои оценки, сводная ведомость и место в группе.</a:t>
            </a:r>
          </a:p>
        </p:txBody>
      </p:sp>
    </p:spTree>
    <p:extLst>
      <p:ext uri="{BB962C8B-B14F-4D97-AF65-F5344CB8AC3E}">
        <p14:creationId xmlns:p14="http://schemas.microsoft.com/office/powerpoint/2010/main" val="17245640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05080-F835-4E23-961D-583C2294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E"/>
                </a:solidFill>
                <a:latin typeface="Arial"/>
                <a:ea typeface="Arial"/>
                <a:cs typeface="Arial"/>
              </a:rPr>
              <a:t>Архитектура и технологии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87165-A2D5-4C56-9905-6FC421B4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246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ЛАБОРАТОРНАЯ РАБОТА 1  /  УЧЕТ УСПЕВАЕМОСТИ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D92A8-FB4F-4F19-9094-8968659D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A3968-4EF3-4403-B52E-A6DBF04C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2905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 w="19050">
            <a:solidFill>
              <a:srgbClr val="17334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334E"/>
                </a:solidFill>
                <a:latin typeface="Arial"/>
                <a:ea typeface="Arial"/>
                <a:cs typeface="Arial"/>
              </a:rPr>
              <a:t>Браузер</a:t>
            </a:r>
          </a:p>
          <a:p xmlns:a="http://schemas.openxmlformats.org/drawingml/2006/main">
            <a:pPr algn="ctr">
              <a:defRPr sz="2025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334E"/>
                </a:solidFill>
                <a:latin typeface="Arial"/>
                <a:ea typeface="Arial"/>
                <a:cs typeface="Arial"/>
              </a:rPr>
              <a:t>HTML / CSS / JS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BBDB4-9509-4161-9184-A8D4AE67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05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 w="19050">
            <a:solidFill>
              <a:srgbClr val="17334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334E"/>
                </a:solidFill>
                <a:latin typeface="Arial"/>
                <a:ea typeface="Arial"/>
                <a:cs typeface="Arial"/>
              </a:rPr>
              <a:t>Контейнер web</a:t>
            </a:r>
          </a:p>
          <a:p xmlns:a="http://schemas.openxmlformats.org/drawingml/2006/main">
            <a:pPr algn="ctr">
              <a:defRPr sz="2025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334E"/>
                </a:solidFill>
                <a:latin typeface="Arial"/>
                <a:ea typeface="Arial"/>
                <a:cs typeface="Arial"/>
              </a:rPr>
              <a:t>FastAPI + Dishka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4B2C3-B7D9-4877-9B62-9DB03681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81250"/>
            <a:ext cx="2905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 w="19050">
            <a:solidFill>
              <a:srgbClr val="17334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334E"/>
                </a:solidFill>
                <a:latin typeface="Arial"/>
                <a:ea typeface="Arial"/>
                <a:cs typeface="Arial"/>
              </a:rPr>
              <a:t>Контейнер db</a:t>
            </a:r>
          </a:p>
          <a:p xmlns:a="http://schemas.openxmlformats.org/drawingml/2006/main">
            <a:pPr algn="ctr">
              <a:defRPr sz="2025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334E"/>
                </a:solidFill>
                <a:latin typeface="Arial"/>
                <a:ea typeface="Arial"/>
                <a:cs typeface="Arial"/>
              </a:rPr>
              <a:t>PostgreSQL 17</a:t>
            </a:r>
          </a:p>
        </p:txBody>
      </p: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524250" y="3119438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6B7C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3119438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6B7C"/>
            </a:solidFill>
            <a:tail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D1631-EC03-4EF2-82C2-FA0FB7E6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478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HTTP / 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5404EF-7FE1-492D-BF5E-B9206CD8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ECFC1F-8738-44D7-921C-4510AEFB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10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Docker Compose · постоянный том данных · healthcheck</a:t>
            </a:r>
          </a:p>
        </p:txBody>
      </p:sp>
    </p:spTree>
    <p:extLst>
      <p:ext uri="{BB962C8B-B14F-4D97-AF65-F5344CB8AC3E}">
        <p14:creationId xmlns:p14="http://schemas.microsoft.com/office/powerpoint/2010/main" val="11981104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480E50-40F0-46E3-92B6-D0F28B36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E"/>
                </a:solidFill>
                <a:latin typeface="Arial"/>
                <a:ea typeface="Arial"/>
                <a:cs typeface="Arial"/>
              </a:rPr>
              <a:t>Модель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36CD6-826F-4649-B40C-AA05BA0F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246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ЛАБОРАТОРНАЯ РАБОТА 1  /  УЧЕТ УСПЕВАЕМОСТИ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9A329-EE9F-4B1E-9AC1-EE355DBC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615BE-DF1D-46B7-BEB6-0743C786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 w="19050">
            <a:solidFill>
              <a:srgbClr val="17334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334E"/>
                </a:solidFill>
                <a:latin typeface="Arial"/>
                <a:ea typeface="Arial"/>
                <a:cs typeface="Arial"/>
              </a:rPr>
              <a:t>Группа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96E3E-0161-44E1-BBEE-40B4C1AA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62125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 w="19050">
            <a:solidFill>
              <a:srgbClr val="17334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334E"/>
                </a:solidFill>
                <a:latin typeface="Arial"/>
                <a:ea typeface="Arial"/>
                <a:cs typeface="Arial"/>
              </a:rPr>
              <a:t>Назначение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022C2-C3B9-44C4-8CC4-8005B1E1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62125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 w="19050">
            <a:solidFill>
              <a:srgbClr val="17334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334E"/>
                </a:solidFill>
                <a:latin typeface="Arial"/>
                <a:ea typeface="Arial"/>
                <a:cs typeface="Arial"/>
              </a:rPr>
              <a:t>Дисциплина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F203C-78F0-42AE-9C87-8FE332B7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 w="19050">
            <a:solidFill>
              <a:srgbClr val="17334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334E"/>
                </a:solidFill>
                <a:latin typeface="Arial"/>
                <a:ea typeface="Arial"/>
                <a:cs typeface="Arial"/>
              </a:rPr>
              <a:t>Студент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86EB5-9071-43E7-9D5A-5A58F8A5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 w="19050">
            <a:solidFill>
              <a:srgbClr val="17334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334E"/>
                </a:solidFill>
                <a:latin typeface="Arial"/>
                <a:ea typeface="Arial"/>
                <a:cs typeface="Arial"/>
              </a:rPr>
              <a:t>Работа и вес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731DF-274A-4E1B-A4E8-FC2429C7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 w="19050">
            <a:solidFill>
              <a:srgbClr val="17334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334E"/>
                </a:solidFill>
                <a:latin typeface="Arial"/>
                <a:ea typeface="Arial"/>
                <a:cs typeface="Arial"/>
              </a:rPr>
              <a:t>Оценка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90875" y="219075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6B7C"/>
            </a:solidFill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6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239000" y="21907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6B7C"/>
            </a:solidFill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905000" y="2619375"/>
            <a:ext cx="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6B7C"/>
            </a:solidFill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5953125" y="2619375"/>
            <a:ext cx="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6B7C"/>
            </a:solidFill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239000" y="4429125"/>
            <a:ext cx="152400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6B7C"/>
            </a:solidFill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7" idx="2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905000" y="4857750"/>
            <a:ext cx="685800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6B7C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051FA-B53E-47FC-BC84-40D8F21C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1 : 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15F28-7825-4939-B327-14ECEA91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050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M :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1353D-C4BD-4FE5-8532-7137A687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9562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1 : 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F3707C-EF75-4AA2-B381-BFFBC1A8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9562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1 :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39377-6CD9-44E7-AC72-BBD22CFA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38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1 : 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502FC5-7AC2-4353-8B36-104436CB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1 : 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D0BE36-B8B0-4286-A0A8-B2754236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PK, FK, UNIQUE и CHECK защищают связи и значения</a:t>
            </a:r>
          </a:p>
        </p:txBody>
      </p:sp>
    </p:spTree>
    <p:extLst>
      <p:ext uri="{BB962C8B-B14F-4D97-AF65-F5344CB8AC3E}">
        <p14:creationId xmlns:p14="http://schemas.microsoft.com/office/powerpoint/2010/main" val="11649530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7ED5E-168E-44B8-9D0C-93C81718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E"/>
                </a:solidFill>
                <a:latin typeface="Arial"/>
                <a:ea typeface="Arial"/>
                <a:cs typeface="Arial"/>
              </a:rPr>
              <a:t>Расчет итогов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C794E-28C9-46B4-9692-80B8BFC1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246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ЛАБОРАТОРНАЯ РАБОТА 1  /  УЧЕТ УСПЕВАЕМОСТИ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573D1-A084-42F0-8099-72BC08DB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B7FE5-6219-4058-BBB5-906193FC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34E"/>
                </a:solidFill>
                <a:latin typeface="Arial"/>
                <a:ea typeface="Arial"/>
                <a:cs typeface="Arial"/>
              </a:rPr>
              <a:t>(5 × 1 + 3 × 2 + 4 × 2 + 5 × 5) / 10 = 4,4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34EF5-F0F4-4B7B-ABCF-9EE72E9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34E"/>
                </a:solidFill>
                <a:latin typeface="Arial"/>
                <a:ea typeface="Arial"/>
                <a:cs typeface="Arial"/>
              </a:rPr>
              <a:t>Итоговая оценка —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AE3C9-DE50-4BD6-BD50-43936FF9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Пустая работа → итог не завершен.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91CEC-414A-4DF0-9468-66C17F31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3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Зачеты не входят в средний балл.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7232E-C6BF-4D96-BB6D-383BBB76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625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Равный средний балл → одинаковое место в рейтинге.</a:t>
            </a:r>
          </a:p>
        </p:txBody>
      </p:sp>
    </p:spTree>
    <p:extLst>
      <p:ext uri="{BB962C8B-B14F-4D97-AF65-F5344CB8AC3E}">
        <p14:creationId xmlns:p14="http://schemas.microsoft.com/office/powerpoint/2010/main" val="12078680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5C01B-45C4-44B6-A4F5-C0DCD8F7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E"/>
                </a:solidFill>
                <a:latin typeface="Arial"/>
                <a:ea typeface="Arial"/>
                <a:cs typeface="Arial"/>
              </a:rPr>
              <a:t>Справочники и ввод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BA9F9-E67D-4AD6-92B3-93AD78F5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246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ЛАБОРАТОРНАЯ РАБОТА 1  /  УЧЕТ УСПЕВАЕМОСТИ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0A8CC-44F5-435C-AB91-4B13CF00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dc9cd60c74d7a"/>
          <a:stretch xmlns:a="http://schemas.openxmlformats.org/drawingml/2006/main"/>
        </p:blipFill>
        <p:spPr>
          <a:xfrm xmlns:a="http://schemas.openxmlformats.org/drawingml/2006/main">
            <a:off x="619125" y="1617762"/>
            <a:ext cx="7286625" cy="409872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A4369-4E13-49D3-9C48-2BDEBDA4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2861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Поля на русском языке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Связи выбираются</a:t>
            </a:r>
          </a:p>
          <a:p xmlns:a="http://schemas.openxmlformats.org/drawingml/2006/main">
            <a:pPr>
              <a:defRPr sz="202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из справочников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Проверка значений</a:t>
            </a:r>
          </a:p>
          <a:p xmlns:a="http://schemas.openxmlformats.org/drawingml/2006/main">
            <a:pPr>
              <a:defRPr sz="202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на сервере и в БД</a:t>
            </a:r>
          </a:p>
        </p:txBody>
      </p:sp>
    </p:spTree>
    <p:extLst>
      <p:ext uri="{BB962C8B-B14F-4D97-AF65-F5344CB8AC3E}">
        <p14:creationId xmlns:p14="http://schemas.microsoft.com/office/powerpoint/2010/main" val="13735205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D237B-BF4E-4703-9903-0D40E8B3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E"/>
                </a:solidFill>
                <a:latin typeface="Arial"/>
                <a:ea typeface="Arial"/>
                <a:cs typeface="Arial"/>
              </a:rPr>
              <a:t>Отчеты и экспорт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DDC89-31E7-4D67-99B9-39531904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246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ЛАБОРАТОРНАЯ РАБОТА 1  /  УЧЕТ УСПЕВАЕМОСТИ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3D21B-D632-4BA3-A275-372A9743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5a5de4e704d4f"/>
          <a:stretch xmlns:a="http://schemas.openxmlformats.org/drawingml/2006/main"/>
        </p:blipFill>
        <p:spPr>
          <a:xfrm xmlns:a="http://schemas.openxmlformats.org/drawingml/2006/main">
            <a:off x="619125" y="1604367"/>
            <a:ext cx="7334250" cy="412551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2E02B-9F0C-4029-91F7-8578F91D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62125"/>
            <a:ext cx="32861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Шесть видов отчетов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Excel и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Печать таблицы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Единые правила расчета</a:t>
            </a:r>
          </a:p>
        </p:txBody>
      </p:sp>
    </p:spTree>
    <p:extLst>
      <p:ext uri="{BB962C8B-B14F-4D97-AF65-F5344CB8AC3E}">
        <p14:creationId xmlns:p14="http://schemas.microsoft.com/office/powerpoint/2010/main" val="4044403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7F283-2A81-48E3-B3BA-D484333D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E"/>
                </a:solidFill>
                <a:latin typeface="Arial"/>
                <a:ea typeface="Arial"/>
                <a:cs typeface="Arial"/>
              </a:rPr>
              <a:t>Защита доступа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ADED3-B20F-444C-89FF-47EF50AF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246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ЛАБОРАТОРНАЯ РАБОТА 1  /  УЧЕТ УСПЕВАЕМОСТИ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959D5-3CCD-4D36-8432-12E1A432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FC317-1AA9-4057-B221-7727FDBE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Роль и принадлежность данных проверяются в каждом запросе.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A046E-F294-452F-9059-A4E615E1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Пароли и сессионные токены хранятся в виде хешей.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B891E-6E4C-454A-96E0-B926494D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43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Студент не получает оценки или ФИО одногруппников.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8458A-B0AD-4B95-90BE-9FCADAB7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Изменения фиксируются в журнале действий.</a:t>
            </a:r>
          </a:p>
        </p:txBody>
      </p:sp>
    </p:spTree>
    <p:extLst>
      <p:ext uri="{BB962C8B-B14F-4D97-AF65-F5344CB8AC3E}">
        <p14:creationId xmlns:p14="http://schemas.microsoft.com/office/powerpoint/2010/main" val="10171491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F296B-77DF-4343-BA99-BB4FE87E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E"/>
                </a:solidFill>
                <a:latin typeface="Arial"/>
                <a:ea typeface="Arial"/>
                <a:cs typeface="Arial"/>
              </a:rPr>
              <a:t>Тестирование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EC376-5803-4FA1-9288-FF2D9259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246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ЛАБОРАТОРНАЯ РАБОТА 1  /  УЧЕТ УСПЕВАЕМОСТИ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8384F-A665-4F78-95E3-71C9AF9C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6E91B-1154-4808-AF56-25853BA0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5429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650" b="1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7650" b="1">
                <a:solidFill>
                  <a:srgbClr val="17334E"/>
                </a:solidFill>
                <a:latin typeface="Arial"/>
                <a:ea typeface="Arial"/>
                <a:cs typeface="Arial"/>
              </a:rPr>
              <a:t>64 / 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C9121-42A3-4E2D-8A20-757E7F4F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автоматические проверки пройдены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D1C2F-5306-40A7-BD73-70E84470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46 тестовых сценариев · проверка ролей, CRUD и расчетов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0FCE5-CA61-4146-9DC9-0DA2B116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Восстановление резервной копии: 240 оценок сохранены</a:t>
            </a:r>
          </a:p>
        </p:txBody>
      </p:sp>
    </p:spTree>
    <p:extLst>
      <p:ext uri="{BB962C8B-B14F-4D97-AF65-F5344CB8AC3E}">
        <p14:creationId xmlns:p14="http://schemas.microsoft.com/office/powerpoint/2010/main" val="14830238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9305B-6676-41A3-B552-577DA668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E"/>
                </a:solidFill>
                <a:latin typeface="Arial"/>
                <a:ea typeface="Arial"/>
                <a:cs typeface="Arial"/>
              </a:rPr>
              <a:t>Демонстрация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3F49A-377C-40AF-9630-72852289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246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ЛАБОРАТОРНАЯ РАБОТА 1  /  УЧЕТ УСПЕВАЕМОСТИ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4EDF0-C06E-4826-8B17-2835622D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58A60-D8BC-445B-B33D-83E61640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1. Вход администратора и поиск студента.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AEBBE-47FC-4038-A2D2-46F7C8C3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032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2. Назначение дисциплины, работа и оценка.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844CC-87E4-4C97-9EA3-555C23F1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3377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3. Ведомость, качество знаний и экспорт PDF.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E0A59-D431-4FE1-A93D-B4FD9B7D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6722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4. Вход студента и собственное место в рейтинге.</a:t>
            </a:r>
          </a:p>
        </p:txBody>
      </p:sp>
    </p:spTree>
    <p:extLst>
      <p:ext uri="{BB962C8B-B14F-4D97-AF65-F5344CB8AC3E}">
        <p14:creationId xmlns:p14="http://schemas.microsoft.com/office/powerpoint/2010/main" val="1319193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1E6D4-9CAD-45E2-8DCA-43DD5AF3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E"/>
                </a:solidFill>
                <a:latin typeface="Arial"/>
                <a:ea typeface="Arial"/>
                <a:cs typeface="Arial"/>
              </a:rPr>
              <a:t>Достигнутые результаты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E4F87-3927-44CA-AEF7-4F34E352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246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ЛАБОРАТОРНАЯ РАБОТА 1  /  УЧЕТ УСПЕВАЕМОСТИ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8EBCD-8DBF-44D7-8CFE-5E008AA0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99249-9BEE-4291-8210-86B0C3B9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Рабочий веб-стенд с PostgreSQL и Docker.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F63A7-9B3B-4812-8F22-61AB2A60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032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20 студентов · 5 групп · 15 дисциплин · 240 оценок.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136B2-ABF6-4507-9318-1D287434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3377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Отчет, ER и Use Case, тест-план, протокол и руководство.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0467C-7F00-4517-B054-77C33AD7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6722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34E"/>
                </a:solidFill>
                <a:latin typeface="Arial"/>
                <a:ea typeface="Arial"/>
                <a:cs typeface="Arial"/>
              </a:rPr>
              <a:t>Следующий этап — учебная защита и ручная приемка.</a:t>
            </a:r>
          </a:p>
        </p:txBody>
      </p:sp>
    </p:spTree>
    <p:extLst>
      <p:ext uri="{BB962C8B-B14F-4D97-AF65-F5344CB8AC3E}">
        <p14:creationId xmlns:p14="http://schemas.microsoft.com/office/powerpoint/2010/main" val="15738332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2026-09-13T17:17:10.1890000Z</dcterms:created>
  <dcterms:modified xsi:type="dcterms:W3CDTF">2026-09-13T17:17:10.1890000Z</dcterms:modified>
</coreProperties>
</file>